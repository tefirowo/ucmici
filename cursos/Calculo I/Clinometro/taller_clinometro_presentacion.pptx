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1a7939c7-e453-503d-d9fb-9c12a2c01d75}">
          <p14:sldIdLst>
            <p14:sldId id="256"/>
            <p14:sldId id="257"/>
          </p14:sldIdLst>
        </p14:section>
        <p14:section name="Fundamento" id="{fb0dba19-7b46-7bb2-d452-aa8ee277126d}">
          <p14:sldIdLst>
            <p14:sldId id="258"/>
            <p14:sldId id="259"/>
            <p14:sldId id="260"/>
            <p14:sldId id="261"/>
          </p14:sldIdLst>
        </p14:section>
        <p14:section name="Construcción" id="{0a3629dc-7b44-6019-441b-87fbc4feccb1}">
          <p14:sldIdLst>
            <p14:sldId id="262"/>
            <p14:sldId id="263"/>
            <p14:sldId id="264"/>
            <p14:sldId id="265"/>
          </p14:sldIdLst>
        </p14:section>
        <p14:section name="Medición" id="{36976a4e-bd26-56b5-4fa9-c2728cca8197}">
          <p14:sldIdLst>
            <p14:sldId id="266"/>
            <p14:sldId id="267"/>
            <p14:sldId id="268"/>
            <p14:sldId id="269"/>
          </p14:sldIdLst>
        </p14:section>
        <p14:section name="Datos e informe" id="{72db1322-1427-374a-2bae-fac9e369c8a2}">
          <p14:sldIdLst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Cierre" id="{c0b74bee-2d58-cde7-f14b-a23f1c19540a}">
          <p14:sldIdLst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para explicar el taller formativo a los estudiantes antes de salir a medir. Recorre: qué se hace, el fundamento trigonométrico, la construcción y calibración del clinómetro, el protocolo de medición con roles rotativos, la ficha de datos, el registro de participación, el informe final y la pauta de evaluación.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taller tiene cinco partes: construcción del clinómetro (A), fundamento matemático (B), protocolo de medición (C), ficha de datos (D) y registro de participación (E), más un informe final. Se trabaja en grupos de cuatro, cada integrante se identifica como A, B, C o D y todos participan en las nueve mediciones cambiando de 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parte de un problema típico de trigonometría: un globo observado con un ángulo de elevación de 16°, desde 240 m de distancia horizontal, con los ojos del observador a 2 m del suelo. No se puede subir a medir; se mide un ángulo y una distancia. Eso es exactamente lo que haremos con edificios, letreros y árboles. La imagen es una captura de un video educativo, usada solo como referencia.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Observador, base de la estructura y punto más alto forman un triángulo rectángulo. d es la distancia horizontal medida con huincha, α es el ángulo de elevación que entrega el clinómetro, h es la parte de la altura que queda sobre la línea de los ojos y h_o es la altura de los ojos del observador. La altura total de la estructura es H = h + h_o.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 fórmulas son suficientes: h = d·tan α y H = h + h_o. Un error muy común es tener la calculadora en radianes; hay que verificar que esté en grados antes de calcular. Comprobación rápida: tan 45° debe dar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calculadora: tan 16° ≈ 0,2867, por lo que h ≈ 240 · 0,2867 ≈ 68,8 m y H ≈ 70,8 m. El enunciado escolar usa la aproximación tan 16° ≈ 7/24, con la que h = 240 · 7/24 = 70 m y H = 72 m, que corresponde a la alternativa b). Ambos resultados son cercanos; la diferencia viene de aproximar la tangente. Esto anticipa un tema del informe: las fuentes de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Lista de materiales por grupo. El clinómetro se arma con transportador, pajita o lápiz, hilo, una plomada y cinta adhesiva. Para medir se necesita huincha de al menos 20 m, calculadora científica en modo grados y tiza o estacas para marcar los puntos de observación.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Pasos 1 a 3 del taller. La ilustración muestra el instrumento terminado: el visor recto a lo largo del borde del transportador, el hilo saliendo del centro y la plomada colgando. Verificar que el hilo se mueva libremente y que no roce el transportador.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Pasos 4 a 6 del taller. La calibración evita errores sistemáticos: apuntando a un punto exactamente horizontal el hilo debe cruzar los 90°; si no, esa diferencia es la corrección. Al medir, quien observa no debe mover el instrumento y un compañero lee el valor. Conversión: si el transportador tiene el 0° del lado contrario al visor, el ángulo de elevación es 90° menos la lectura; si el 0° está del lado del visor, la lectura ya es el ángulo. Se confirma en la calibración. Las fotografías de la imagen son de referencia.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ficticio: el hilo cruza los 50° en la escala; con el transportador del taller, α = 90° − 50° = 40°. Con d = 20 m y una altura de ojos de 1,6 m: h = 20 · tan 40° ≈ 20 · 0,839 ≈ 16,8 m y H ≈ 18,4 m. La tabla de valores de apoyo de la guía da tan 40° = 0,839.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grupo mide tres estructuras (un edificio, un letrero y un árbol) y hace tres mediciones de cada una. Conviene variar la distancia (por ejemplo 15, 20 y 25 m) para comparar. El ángulo debería quedar entre 20° y 60°: si es muy pequeño o muy grande, un error de lectura de un grado cambia mucho el resultado. Elegir estructuras con base accesible y terreno lo más plano posible, y medir la altura de los ojos del observador desde el suelo.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roles: observador, medidor de distancia, anotador y calculista. Los roles rotan en cada medición para que todos los integrantes pasen por todos ellos.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Rotación sugerida del taller. A, B, C y D son los integrantes 1 a 4 de la lista del grupo. En cada medición cada integrante tiene un rol distinto, y cada uno participa en las nueve mediciones. Esta tabla es la base del registro de participación.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Recomendaciones de seguridad del taller. Al apuntar hacia estructuras altas es fácil que el visor apunte cerca del Sol: nunca mirar el Sol a través del visor. Las mediciones se hacen siempre a nivel del suelo, lejos de calles y con autorización del lugar.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estructura tiene su ficha con tres mediciones: observador, distancia d, lectura, ángulo α, altura de ojos, h = d·tan α y H = h + h_o. Luego se calcula el promedio de las tres alturas y el rango (máximo menos mínimo). El cociente entre el rango y el promedio, en porcentaje, indica cuánta dispersión hay. Los datos de esta diapositiva son ficticios: con 1,6 m de altura de ojos, d = 15, 20 y 25 m y ángulos de 45°, 38° y 33°, se obtiene H = 16,6; 17,2 y 17,8 m, promedio 17,2 m y rango 1,2 m, alrededor de 7 %.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grupo anota cuántas veces cumplió cada rol cada integrante, y el puntaje de construcción (de 5) y del informe (de 5). El índice de participación pondera 60 % las mediciones con rol cumplido, 20 % la construcción y 20 % el informe. Ejemplo: 9 de 9 mediciones, 4 de 5 en construcción y 5 de 5 en informe da 60 + 16 + 20 = 96 %. Además hay una coevaluación de 1 a 5 en responsabilidad, trabajo en equipo, puntualidad y aporte al informe.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informe tiene seis partes: introducción, procedimiento, resultados, análisis, conclusiones y anexo con croquis o fotografías. Los resultados incluyen la tabla resumen con H, R y la variación porcentual de cada estructura.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4c del informe. Con la misma estructura la altura h no cambia; como tan α = h/d, al aumentar d el cociente disminuye y por lo tanto α disminuye. Con h = 16 m: a 10 m el ángulo es cercano a 58°, a 20 m cercano a 39° y a 40 m cercano a 22°. Por eso se recomienda un ángulo entre 20° y 60°: con ángulos pequeños, un error de lectura de un grado cambia más el resultado relativo.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el análisis: mencionar al menos tres fuentes de error, por ejemplo el instrumento (hilo que oscila, escala poco precisa), el observador (pulso o puntería al punto más alto), el terreno no plano y los errores al medir d o la altura de los ojos. Si se conoce la altura real de alguna estructura se calculan el error absoluto (diferencia entre el promedio y el valor real) y el error relativo (ese error dividido por el valor real).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criterios: construcción y calibración (15), registro completo de datos (20), cálculos correctos (20), análisis de dispersión y fuentes de error (15), participación equitativa y registro de roles (15) e informe final (15). Total 100 puntos.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con un ángulo de elevación y una distancia horizontal, la tangente permite calcular alturas inaccesibles. Lista de verificación antes de salir: clinómetro calibrado (anotar la corrección), huincha, calculadora en modo grados, fichas impresas y roles asignados según la rotación.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1828800"/>
            <a:ext cx="1069848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6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42062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Taller del clinómetro · Cálculo 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1645920"/>
            <a:ext cx="10698480" cy="2560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448056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chemeClr val="accent3"/>
                </a:solidFill>
              </a:rPr>
              <a:t>CÁLCULO I · INGENIERÍA CIVIL EN INFORMÁTICA</a:t>
            </a:r>
            <a:endParaRPr lang="en-US" sz="2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1828800"/>
            <a:ext cx="10698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Taller formativo: construcción y aplicación de un clinómetro</a:t>
            </a:r>
            <a:endParaRPr lang="en-US" sz="6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42062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accent4"/>
                </a:solidFill>
              </a:rPr>
              <a:t>Medir alturas inaccesibles con trigonometría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¿Qué vamos a hacer?</a:t>
            </a:r>
            <a:endParaRPr lang="en-US" sz="4000" dirty="0"/>
          </a:p>
        </p:txBody>
      </p:sp>
      <p:sp>
        <p:nvSpPr>
          <p:cNvPr id="3" name="Etapa 1"/>
          <p:cNvSpPr/>
          <p:nvPr/>
        </p:nvSpPr>
        <p:spPr>
          <a:xfrm>
            <a:off x="548640" y="1645920"/>
            <a:ext cx="2651760" cy="3566160"/>
          </a:xfrm>
          <a:prstGeom prst="roundRect">
            <a:avLst>
              <a:gd name="adj" fmla="val 6207"/>
            </a:avLst>
          </a:prstGeom>
          <a:solidFill>
            <a:schemeClr val="accent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1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788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Construir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un clinómetro casero y calibrarlo</a:t>
            </a:r>
            <a:endParaRPr lang="en-US" sz="2400" dirty="0"/>
          </a:p>
        </p:txBody>
      </p:sp>
      <p:sp>
        <p:nvSpPr>
          <p:cNvPr id="7" name="Etapa 2"/>
          <p:cNvSpPr/>
          <p:nvPr/>
        </p:nvSpPr>
        <p:spPr>
          <a:xfrm>
            <a:off x="3383280" y="1645920"/>
            <a:ext cx="2651760" cy="3566160"/>
          </a:xfrm>
          <a:prstGeom prst="roundRect">
            <a:avLst>
              <a:gd name="adj" fmla="val 6207"/>
            </a:avLst>
          </a:prstGeom>
          <a:solidFill>
            <a:schemeClr val="accent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0" y="18288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2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2788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Medir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342900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edificio, letrero y árbol: 3 mediciones cada uno</a:t>
            </a:r>
            <a:endParaRPr lang="en-US" sz="2400" dirty="0"/>
          </a:p>
        </p:txBody>
      </p:sp>
      <p:sp>
        <p:nvSpPr>
          <p:cNvPr id="11" name="Etapa 3"/>
          <p:cNvSpPr/>
          <p:nvPr/>
        </p:nvSpPr>
        <p:spPr>
          <a:xfrm>
            <a:off x="6217920" y="1645920"/>
            <a:ext cx="2651760" cy="3566160"/>
          </a:xfrm>
          <a:prstGeom prst="roundRect">
            <a:avLst>
              <a:gd name="adj" fmla="val 6207"/>
            </a:avLst>
          </a:prstGeom>
          <a:solidFill>
            <a:schemeClr val="accent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92240" y="18288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3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788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Calcular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342900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altura con la tangente, promedio y dispersión</a:t>
            </a:r>
            <a:endParaRPr lang="en-US" sz="2400" dirty="0"/>
          </a:p>
        </p:txBody>
      </p:sp>
      <p:sp>
        <p:nvSpPr>
          <p:cNvPr id="15" name="Etapa 4"/>
          <p:cNvSpPr/>
          <p:nvPr/>
        </p:nvSpPr>
        <p:spPr>
          <a:xfrm>
            <a:off x="9052560" y="1645920"/>
            <a:ext cx="2651760" cy="3566160"/>
          </a:xfrm>
          <a:prstGeom prst="roundRect">
            <a:avLst>
              <a:gd name="adj" fmla="val 6207"/>
            </a:avLst>
          </a:prstGeom>
          <a:solidFill>
            <a:schemeClr val="accent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326880" y="18288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4</a:t>
            </a:r>
            <a:endParaRPr lang="en-US" sz="5400" dirty="0"/>
          </a:p>
        </p:txBody>
      </p:sp>
      <p:sp>
        <p:nvSpPr>
          <p:cNvPr id="17" name="Text 15"/>
          <p:cNvSpPr txBox="1"/>
          <p:nvPr/>
        </p:nvSpPr>
        <p:spPr>
          <a:xfrm>
            <a:off x="9326880" y="2788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Informar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0" y="342900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resultados, errores, participación y conclusiones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4864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Trabajo en grupos de 4 integrantes (A, B, C y D), con roles que rotan.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El problema: medir lo que no podemos alcanzar</a:t>
            </a:r>
            <a:endParaRPr lang="en-US" sz="4000" dirty="0"/>
          </a:p>
        </p:txBody>
      </p:sp>
      <p:pic>
        <p:nvPicPr>
          <p:cNvPr id="3" name="Image 0" descr="/home/claude/clino_deck/glob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4937760" cy="43799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Imagen: captura de un video educativo (referencia)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309360" y="1554480"/>
            <a:ext cx="5349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Una persona mira un globo con un ángulo de elevación de 16°. Está a 240 m del punto bajo el globo y sus ojos están a 2 m del suelo.</a:t>
            </a:r>
            <a:endParaRPr lang="en-US" sz="2600" dirty="0"/>
          </a:p>
        </p:txBody>
      </p:sp>
      <p:sp>
        <p:nvSpPr>
          <p:cNvPr id="6" name="Pregunta"/>
          <p:cNvSpPr/>
          <p:nvPr/>
        </p:nvSpPr>
        <p:spPr>
          <a:xfrm>
            <a:off x="6309360" y="3840480"/>
            <a:ext cx="5330952" cy="1463040"/>
          </a:xfrm>
          <a:prstGeom prst="roundRect">
            <a:avLst>
              <a:gd name="adj" fmla="val 11250"/>
            </a:avLst>
          </a:prstGeom>
          <a:solidFill>
            <a:schemeClr val="accent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92240" y="384048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2"/>
                </a:solidFill>
              </a:rPr>
              <a:t>¿A qué altura está el globo?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6309360" y="5532120"/>
            <a:ext cx="5349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2"/>
                </a:solidFill>
              </a:rPr>
              <a:t>Un edificio, un letrero o un árbol son el mismo problema.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El modelo: un triángulo rectángulo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280160" y="5669280"/>
            <a:ext cx="932688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1920240"/>
            <a:ext cx="1097280" cy="3749040"/>
          </a:xfrm>
          <a:prstGeom prst="rect">
            <a:avLst/>
          </a:prstGeom>
          <a:solidFill>
            <a:schemeClr val="accent4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2194560" y="4572000"/>
            <a:ext cx="0" cy="1097280"/>
          </a:xfrm>
          <a:prstGeom prst="line">
            <a:avLst/>
          </a:prstGeom>
          <a:noFill/>
          <a:ln w="50800">
            <a:solidFill>
              <a:schemeClr val="accent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4160520"/>
            <a:ext cx="365760" cy="36576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4572000"/>
            <a:ext cx="621792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 flipV="1">
            <a:off x="2194560" y="1920240"/>
            <a:ext cx="6217920" cy="2651760"/>
          </a:xfrm>
          <a:prstGeom prst="line">
            <a:avLst/>
          </a:prstGeom>
          <a:noFill/>
          <a:ln w="38100">
            <a:solidFill>
              <a:schemeClr val="tx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8412480" y="1920240"/>
            <a:ext cx="0" cy="2651760"/>
          </a:xfrm>
          <a:prstGeom prst="line">
            <a:avLst/>
          </a:prstGeom>
          <a:noFill/>
          <a:ln w="635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6616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α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6035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8920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h</a:t>
            </a:r>
            <a:pPr algn="l" indent="0" marL="0">
              <a:buNone/>
            </a:pPr>
            <a:r>
              <a:rPr lang="en-US" sz="3000" b="1" baseline="-40000" dirty="0">
                <a:solidFill>
                  <a:schemeClr val="accent2"/>
                </a:solidFill>
              </a:rPr>
              <a:t>o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h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8549640" y="3566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2"/>
                </a:solidFill>
              </a:rPr>
              <a:t>estructura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2194560" y="5989320"/>
            <a:ext cx="621792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headEnd type="triangle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d: distancia horizontal   ·   α: ángulo de elevación   ·   h</a:t>
            </a:r>
            <a:pPr algn="l" indent="0" marL="0">
              <a:buNone/>
            </a:pPr>
            <a:r>
              <a:rPr lang="en-US" sz="2000" baseline="-40000" dirty="0">
                <a:solidFill>
                  <a:schemeClr val="tx2"/>
                </a:solidFill>
              </a:rPr>
              <a:t>o</a:t>
            </a:r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: altura de los ojos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La fórmula del taller</a:t>
            </a:r>
            <a:endParaRPr lang="en-US" sz="4000" dirty="0"/>
          </a:p>
        </p:txBody>
      </p:sp>
      <p:sp>
        <p:nvSpPr>
          <p:cNvPr id="3" name="Banner"/>
          <p:cNvSpPr/>
          <p:nvPr/>
        </p:nvSpPr>
        <p:spPr>
          <a:xfrm>
            <a:off x="548640" y="1554480"/>
            <a:ext cx="11091672" cy="1554480"/>
          </a:xfrm>
          <a:prstGeom prst="roundRect">
            <a:avLst>
              <a:gd name="adj" fmla="val 10588"/>
            </a:avLst>
          </a:prstGeom>
          <a:solidFill>
            <a:schemeClr val="accent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10543032" cy="963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chemeClr val="tx1"/>
                </a:solidFill>
              </a:rPr>
              <a:t>tan α = h / d      ⇒      h = d · tan α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18258"/>
            <a:ext cx="10543032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2"/>
                </a:solidFill>
              </a:rPr>
              <a:t>el cateto opuesto dividido por el cateto adyacente</a:t>
            </a:r>
            <a:endParaRPr lang="en-US" sz="2400" dirty="0"/>
          </a:p>
        </p:txBody>
      </p:sp>
      <p:sp>
        <p:nvSpPr>
          <p:cNvPr id="6" name="Banner"/>
          <p:cNvSpPr/>
          <p:nvPr/>
        </p:nvSpPr>
        <p:spPr>
          <a:xfrm>
            <a:off x="548640" y="3383280"/>
            <a:ext cx="11091672" cy="1371600"/>
          </a:xfrm>
          <a:prstGeom prst="roundRect">
            <a:avLst>
              <a:gd name="adj" fmla="val 12000"/>
            </a:avLst>
          </a:prstGeom>
          <a:solidFill>
            <a:schemeClr val="accent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474720"/>
            <a:ext cx="1054303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chemeClr val="tx1"/>
                </a:solidFill>
              </a:rPr>
              <a:t>H = h + h</a:t>
            </a:r>
            <a:pPr algn="ctr" indent="0" marL="0">
              <a:buNone/>
            </a:pPr>
            <a:r>
              <a:rPr lang="en-US" sz="4600" b="1" baseline="-40000" dirty="0">
                <a:solidFill>
                  <a:schemeClr val="tx1"/>
                </a:solidFill>
              </a:rPr>
              <a:t>o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233672"/>
            <a:ext cx="10543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2"/>
                </a:solidFill>
              </a:rPr>
              <a:t>altura total = parte sobre los ojos + altura de los ojos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206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Calculadora en modo grados (DEG).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Ejemplo resuelto: el globo</a:t>
            </a:r>
            <a:endParaRPr lang="en-US" sz="4000" dirty="0"/>
          </a:p>
        </p:txBody>
      </p:sp>
      <p:sp>
        <p:nvSpPr>
          <p:cNvPr id="3" name="Fila Datos"/>
          <p:cNvSpPr/>
          <p:nvPr/>
        </p:nvSpPr>
        <p:spPr>
          <a:xfrm>
            <a:off x="548640" y="1554480"/>
            <a:ext cx="11091672" cy="1005840"/>
          </a:xfrm>
          <a:prstGeom prst="roundRect">
            <a:avLst>
              <a:gd name="adj" fmla="val 16364"/>
            </a:avLst>
          </a:prstGeom>
          <a:solidFill>
            <a:schemeClr val="accent4"/>
          </a:solidFill>
          <a:ln/>
        </p:spPr>
      </p:sp>
      <p:sp>
        <p:nvSpPr>
          <p:cNvPr id="4" name="Etiqueta Datos"/>
          <p:cNvSpPr txBox="1"/>
          <p:nvPr/>
        </p:nvSpPr>
        <p:spPr>
          <a:xfrm>
            <a:off x="822960" y="16459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Datos</a:t>
            </a:r>
            <a:endParaRPr lang="en-US" sz="2400" dirty="0"/>
          </a:p>
        </p:txBody>
      </p:sp>
      <p:sp>
        <p:nvSpPr>
          <p:cNvPr id="5" name="Contenido Datos"/>
          <p:cNvSpPr txBox="1"/>
          <p:nvPr/>
        </p:nvSpPr>
        <p:spPr>
          <a:xfrm>
            <a:off x="3657600" y="16459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 = 240 m   α = 16°   h</a:t>
            </a:r>
            <a:pPr algn="l" indent="0" marL="0">
              <a:buNone/>
            </a:pPr>
            <a:r>
              <a:rPr lang="en-US" sz="3200" b="1" baseline="-40000" dirty="0">
                <a:solidFill>
                  <a:schemeClr val="tx1"/>
                </a:solidFill>
              </a:rPr>
              <a:t>o</a:t>
            </a:r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 = 2 m</a:t>
            </a:r>
            <a:endParaRPr lang="en-US" sz="3200" dirty="0"/>
          </a:p>
        </p:txBody>
      </p:sp>
      <p:sp>
        <p:nvSpPr>
          <p:cNvPr id="6" name="Fila Parte sobre los ojos"/>
          <p:cNvSpPr/>
          <p:nvPr/>
        </p:nvSpPr>
        <p:spPr>
          <a:xfrm>
            <a:off x="548640" y="2743200"/>
            <a:ext cx="11091672" cy="1005840"/>
          </a:xfrm>
          <a:prstGeom prst="roundRect">
            <a:avLst>
              <a:gd name="adj" fmla="val 16364"/>
            </a:avLst>
          </a:prstGeom>
          <a:solidFill>
            <a:schemeClr val="bg2"/>
          </a:solidFill>
          <a:ln/>
        </p:spPr>
      </p:sp>
      <p:sp>
        <p:nvSpPr>
          <p:cNvPr id="7" name="Etiqueta Parte sobre los ojos"/>
          <p:cNvSpPr txBox="1"/>
          <p:nvPr/>
        </p:nvSpPr>
        <p:spPr>
          <a:xfrm>
            <a:off x="822960" y="28346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Parte sobre los ojos</a:t>
            </a:r>
            <a:endParaRPr lang="en-US" sz="2400" dirty="0"/>
          </a:p>
        </p:txBody>
      </p:sp>
      <p:sp>
        <p:nvSpPr>
          <p:cNvPr id="8" name="Contenido Parte sobre los ojos"/>
          <p:cNvSpPr txBox="1"/>
          <p:nvPr/>
        </p:nvSpPr>
        <p:spPr>
          <a:xfrm>
            <a:off x="3657600" y="28346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 = 240 · tan 16° ≈ 240 · 0,2867 ≈ 68,8 m</a:t>
            </a:r>
            <a:endParaRPr lang="en-US" sz="3000" dirty="0"/>
          </a:p>
        </p:txBody>
      </p:sp>
      <p:sp>
        <p:nvSpPr>
          <p:cNvPr id="9" name="Fila Altura total"/>
          <p:cNvSpPr/>
          <p:nvPr/>
        </p:nvSpPr>
        <p:spPr>
          <a:xfrm>
            <a:off x="548640" y="3931920"/>
            <a:ext cx="11091672" cy="1005840"/>
          </a:xfrm>
          <a:prstGeom prst="roundRect">
            <a:avLst>
              <a:gd name="adj" fmla="val 16364"/>
            </a:avLst>
          </a:prstGeom>
          <a:solidFill>
            <a:schemeClr val="accent5"/>
          </a:solidFill>
          <a:ln/>
        </p:spPr>
      </p:sp>
      <p:sp>
        <p:nvSpPr>
          <p:cNvPr id="10" name="Etiqueta Altura total"/>
          <p:cNvSpPr txBox="1"/>
          <p:nvPr/>
        </p:nvSpPr>
        <p:spPr>
          <a:xfrm>
            <a:off x="822960" y="40233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Altura total</a:t>
            </a:r>
            <a:endParaRPr lang="en-US" sz="2400" dirty="0"/>
          </a:p>
        </p:txBody>
      </p:sp>
      <p:sp>
        <p:nvSpPr>
          <p:cNvPr id="11" name="Contenido Altura total"/>
          <p:cNvSpPr txBox="1"/>
          <p:nvPr/>
        </p:nvSpPr>
        <p:spPr>
          <a:xfrm>
            <a:off x="3657600" y="40233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2"/>
                </a:solidFill>
              </a:rPr>
              <a:t>H ≈ 68,8 + 2 = 70,8 m</a:t>
            </a:r>
            <a:endParaRPr lang="en-US" sz="3400" dirty="0"/>
          </a:p>
        </p:txBody>
      </p:sp>
      <p:sp>
        <p:nvSpPr>
          <p:cNvPr id="12" name="Aproximación escolar"/>
          <p:cNvSpPr/>
          <p:nvPr/>
        </p:nvSpPr>
        <p:spPr>
          <a:xfrm>
            <a:off x="548640" y="5120640"/>
            <a:ext cx="11091672" cy="1005840"/>
          </a:xfrm>
          <a:prstGeom prst="roundRect">
            <a:avLst>
              <a:gd name="adj" fmla="val 16364"/>
            </a:avLst>
          </a:prstGeom>
          <a:solidFill>
            <a:schemeClr val="accent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5120640"/>
            <a:ext cx="10543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Con la aproximación escolar tan 16° ≈ 7/24: h = 70 m y H = 72 m → alternativa b) del enunciado.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Materiales (por grupo)</a:t>
            </a:r>
            <a:endParaRPr lang="en-US" sz="4000" dirty="0"/>
          </a:p>
        </p:txBody>
      </p:sp>
      <p:sp>
        <p:nvSpPr>
          <p:cNvPr id="3" name="Material"/>
          <p:cNvSpPr/>
          <p:nvPr/>
        </p:nvSpPr>
        <p:spPr>
          <a:xfrm>
            <a:off x="548640" y="1554480"/>
            <a:ext cx="5449824" cy="731520"/>
          </a:xfrm>
          <a:prstGeom prst="roundRect">
            <a:avLst>
              <a:gd name="adj" fmla="val 22500"/>
            </a:avLst>
          </a:prstGeom>
          <a:solidFill>
            <a:schemeClr val="accent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☐  Transportador semicircular de 180°</a:t>
            </a:r>
            <a:endParaRPr lang="en-US" sz="2200" dirty="0"/>
          </a:p>
        </p:txBody>
      </p:sp>
      <p:sp>
        <p:nvSpPr>
          <p:cNvPr id="5" name="Material"/>
          <p:cNvSpPr/>
          <p:nvPr/>
        </p:nvSpPr>
        <p:spPr>
          <a:xfrm>
            <a:off x="6190488" y="1554480"/>
            <a:ext cx="5449824" cy="731520"/>
          </a:xfrm>
          <a:prstGeom prst="roundRect">
            <a:avLst>
              <a:gd name="adj" fmla="val 22500"/>
            </a:avLst>
          </a:prstGeom>
          <a:solidFill>
            <a:schemeClr val="accent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19088" y="15544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☐  Huincha de medir (mínimo 20 m)</a:t>
            </a:r>
            <a:endParaRPr lang="en-US" sz="2200" dirty="0"/>
          </a:p>
        </p:txBody>
      </p:sp>
      <p:sp>
        <p:nvSpPr>
          <p:cNvPr id="7" name="Material"/>
          <p:cNvSpPr/>
          <p:nvPr/>
        </p:nvSpPr>
        <p:spPr>
          <a:xfrm>
            <a:off x="548640" y="2423160"/>
            <a:ext cx="5449824" cy="731520"/>
          </a:xfrm>
          <a:prstGeom prst="roundRect">
            <a:avLst>
              <a:gd name="adj" fmla="val 22500"/>
            </a:avLst>
          </a:prstGeom>
          <a:solidFill>
            <a:schemeClr val="accent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4231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☐  Pajita (bombilla), lápiz o regla delgada</a:t>
            </a:r>
            <a:endParaRPr lang="en-US" sz="2200" dirty="0"/>
          </a:p>
        </p:txBody>
      </p:sp>
      <p:sp>
        <p:nvSpPr>
          <p:cNvPr id="9" name="Material"/>
          <p:cNvSpPr/>
          <p:nvPr/>
        </p:nvSpPr>
        <p:spPr>
          <a:xfrm>
            <a:off x="6190488" y="2423160"/>
            <a:ext cx="5449824" cy="731520"/>
          </a:xfrm>
          <a:prstGeom prst="roundRect">
            <a:avLst>
              <a:gd name="adj" fmla="val 22500"/>
            </a:avLst>
          </a:prstGeom>
          <a:solidFill>
            <a:schemeClr val="accent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19088" y="24231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☐  Calculadora científica (modo grados)</a:t>
            </a:r>
            <a:endParaRPr lang="en-US" sz="2200" dirty="0"/>
          </a:p>
        </p:txBody>
      </p:sp>
      <p:sp>
        <p:nvSpPr>
          <p:cNvPr id="11" name="Material"/>
          <p:cNvSpPr/>
          <p:nvPr/>
        </p:nvSpPr>
        <p:spPr>
          <a:xfrm>
            <a:off x="548640" y="3291840"/>
            <a:ext cx="5449824" cy="731520"/>
          </a:xfrm>
          <a:prstGeom prst="roundRect">
            <a:avLst>
              <a:gd name="adj" fmla="val 22500"/>
            </a:avLst>
          </a:prstGeom>
          <a:solidFill>
            <a:schemeClr val="accent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2918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☐  Hilo de unos 40 cm</a:t>
            </a:r>
            <a:endParaRPr lang="en-US" sz="2200" dirty="0"/>
          </a:p>
        </p:txBody>
      </p:sp>
      <p:sp>
        <p:nvSpPr>
          <p:cNvPr id="13" name="Material"/>
          <p:cNvSpPr/>
          <p:nvPr/>
        </p:nvSpPr>
        <p:spPr>
          <a:xfrm>
            <a:off x="6190488" y="3291840"/>
            <a:ext cx="5449824" cy="731520"/>
          </a:xfrm>
          <a:prstGeom prst="roundRect">
            <a:avLst>
              <a:gd name="adj" fmla="val 22500"/>
            </a:avLst>
          </a:prstGeom>
          <a:solidFill>
            <a:schemeClr val="accent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19088" y="32918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☐  Tiza o estacas para marcar posiciones</a:t>
            </a:r>
            <a:endParaRPr lang="en-US" sz="2200" dirty="0"/>
          </a:p>
        </p:txBody>
      </p:sp>
      <p:sp>
        <p:nvSpPr>
          <p:cNvPr id="15" name="Material"/>
          <p:cNvSpPr/>
          <p:nvPr/>
        </p:nvSpPr>
        <p:spPr>
          <a:xfrm>
            <a:off x="548640" y="4160520"/>
            <a:ext cx="5449824" cy="731520"/>
          </a:xfrm>
          <a:prstGeom prst="roundRect">
            <a:avLst>
              <a:gd name="adj" fmla="val 22500"/>
            </a:avLst>
          </a:prstGeom>
          <a:solidFill>
            <a:schemeClr val="accent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1605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☐  Plomada (tuerca, llave o trozo de goma)</a:t>
            </a:r>
            <a:endParaRPr lang="en-US" sz="2200" dirty="0"/>
          </a:p>
        </p:txBody>
      </p:sp>
      <p:sp>
        <p:nvSpPr>
          <p:cNvPr id="17" name="Material"/>
          <p:cNvSpPr/>
          <p:nvPr/>
        </p:nvSpPr>
        <p:spPr>
          <a:xfrm>
            <a:off x="6190488" y="4160520"/>
            <a:ext cx="5449824" cy="731520"/>
          </a:xfrm>
          <a:prstGeom prst="roundRect">
            <a:avLst>
              <a:gd name="adj" fmla="val 22500"/>
            </a:avLst>
          </a:prstGeom>
          <a:solidFill>
            <a:schemeClr val="accent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19088" y="41605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☐  Lápiz y ficha</a:t>
            </a:r>
            <a:endParaRPr lang="en-US" sz="2200" dirty="0"/>
          </a:p>
        </p:txBody>
      </p:sp>
      <p:sp>
        <p:nvSpPr>
          <p:cNvPr id="19" name="Material"/>
          <p:cNvSpPr/>
          <p:nvPr/>
        </p:nvSpPr>
        <p:spPr>
          <a:xfrm>
            <a:off x="548640" y="5029200"/>
            <a:ext cx="5449824" cy="731520"/>
          </a:xfrm>
          <a:prstGeom prst="roundRect">
            <a:avLst>
              <a:gd name="adj" fmla="val 22500"/>
            </a:avLst>
          </a:prstGeom>
          <a:solidFill>
            <a:schemeClr val="accent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50292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☐  Cinta adhesiva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Parte A: construir el clinómetro</a:t>
            </a:r>
            <a:endParaRPr lang="en-US" sz="4000" dirty="0"/>
          </a:p>
        </p:txBody>
      </p:sp>
      <p:pic>
        <p:nvPicPr>
          <p:cNvPr id="3" name="Image 0" descr="/home/claude/clino_deck/clino_ilust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4754880" cy="43342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897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Imagen: ilustración de un clinómetro casero (referencia)</a:t>
            </a:r>
            <a:endParaRPr lang="en-US" sz="1400" dirty="0"/>
          </a:p>
        </p:txBody>
      </p:sp>
      <p:sp>
        <p:nvSpPr>
          <p:cNvPr id="5" name="Paso 1"/>
          <p:cNvSpPr/>
          <p:nvPr/>
        </p:nvSpPr>
        <p:spPr>
          <a:xfrm>
            <a:off x="5669280" y="1554480"/>
            <a:ext cx="5971032" cy="1325880"/>
          </a:xfrm>
          <a:prstGeom prst="roundRect">
            <a:avLst>
              <a:gd name="adj" fmla="val 12414"/>
            </a:avLst>
          </a:prstGeom>
          <a:solidFill>
            <a:schemeClr val="accent4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897880" y="1554480"/>
            <a:ext cx="548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1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537960" y="155448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Pega la pajita (o lápiz) al borde recto del transportador: es el visor.</a:t>
            </a:r>
            <a:endParaRPr lang="en-US" sz="2200" dirty="0"/>
          </a:p>
        </p:txBody>
      </p:sp>
      <p:sp>
        <p:nvSpPr>
          <p:cNvPr id="8" name="Paso 2"/>
          <p:cNvSpPr/>
          <p:nvPr/>
        </p:nvSpPr>
        <p:spPr>
          <a:xfrm>
            <a:off x="5669280" y="3063240"/>
            <a:ext cx="5971032" cy="1325880"/>
          </a:xfrm>
          <a:prstGeom prst="roundRect">
            <a:avLst>
              <a:gd name="adj" fmla="val 12414"/>
            </a:avLst>
          </a:prstGeom>
          <a:solidFill>
            <a:schemeClr val="accent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897880" y="3063240"/>
            <a:ext cx="548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2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6537960" y="306324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Ata el hilo al orificio del centro y asegúralo con cinta.</a:t>
            </a:r>
            <a:endParaRPr lang="en-US" sz="2200" dirty="0"/>
          </a:p>
        </p:txBody>
      </p:sp>
      <p:sp>
        <p:nvSpPr>
          <p:cNvPr id="11" name="Paso 3"/>
          <p:cNvSpPr/>
          <p:nvPr/>
        </p:nvSpPr>
        <p:spPr>
          <a:xfrm>
            <a:off x="5669280" y="4572000"/>
            <a:ext cx="5971032" cy="1325880"/>
          </a:xfrm>
          <a:prstGeom prst="roundRect">
            <a:avLst>
              <a:gd name="adj" fmla="val 12414"/>
            </a:avLst>
          </a:prstGeom>
          <a:solidFill>
            <a:schemeClr val="accent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897880" y="4572000"/>
            <a:ext cx="548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3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6537960" y="457200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Amarra la plomada al otro extremo: el hilo debe colgar libre y cruzar la escala.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Calibrar, usar y leer el ángulo</a:t>
            </a:r>
            <a:endParaRPr lang="en-US" sz="4000" dirty="0"/>
          </a:p>
        </p:txBody>
      </p:sp>
      <p:pic>
        <p:nvPicPr>
          <p:cNvPr id="3" name="Image 0" descr="/home/claude/clino_deck/clino_u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5852160" cy="36301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2120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Imagen: uso de un clinómetro casero (referencia)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675120" y="1554480"/>
            <a:ext cx="4983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Calibración: apunta a un punto horizontal a la altura de tus ojos. El hilo debe marcar 90°. Si marca otro valor, anótalo como corrección.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6675120" y="3611880"/>
            <a:ext cx="4983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Uso: mira por el visor al punto más alto, espera a que el hilo se estabilice y un compañero lee el valor.</a:t>
            </a:r>
            <a:endParaRPr lang="en-US" sz="2200" dirty="0"/>
          </a:p>
        </p:txBody>
      </p:sp>
      <p:sp>
        <p:nvSpPr>
          <p:cNvPr id="7" name="Conversión"/>
          <p:cNvSpPr/>
          <p:nvPr/>
        </p:nvSpPr>
        <p:spPr>
          <a:xfrm>
            <a:off x="548640" y="5623560"/>
            <a:ext cx="11091672" cy="685800"/>
          </a:xfrm>
          <a:prstGeom prst="roundRect">
            <a:avLst>
              <a:gd name="adj" fmla="val 24000"/>
            </a:avLst>
          </a:prstGeom>
          <a:solidFill>
            <a:schemeClr val="accent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562356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α = 90° − lectura        (si el 0° está del lado del visor, la lectura ya es α)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Ejemplo de lectura y cálculo</a:t>
            </a:r>
            <a:endParaRPr lang="en-US" sz="4000" dirty="0"/>
          </a:p>
        </p:txBody>
      </p:sp>
      <p:sp>
        <p:nvSpPr>
          <p:cNvPr id="3" name="Fila Lectura del hilo"/>
          <p:cNvSpPr/>
          <p:nvPr/>
        </p:nvSpPr>
        <p:spPr>
          <a:xfrm>
            <a:off x="548640" y="1554480"/>
            <a:ext cx="11091672" cy="914400"/>
          </a:xfrm>
          <a:prstGeom prst="roundRect">
            <a:avLst>
              <a:gd name="adj" fmla="val 18000"/>
            </a:avLst>
          </a:prstGeom>
          <a:solidFill>
            <a:schemeClr val="accent4"/>
          </a:solidFill>
          <a:ln/>
        </p:spPr>
      </p:sp>
      <p:sp>
        <p:nvSpPr>
          <p:cNvPr id="4" name="Etiqueta Lectura del hilo"/>
          <p:cNvSpPr txBox="1"/>
          <p:nvPr/>
        </p:nvSpPr>
        <p:spPr>
          <a:xfrm>
            <a:off x="822960" y="16459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Lectura del hilo</a:t>
            </a:r>
            <a:endParaRPr lang="en-US" sz="2400" dirty="0"/>
          </a:p>
        </p:txBody>
      </p:sp>
      <p:sp>
        <p:nvSpPr>
          <p:cNvPr id="5" name="Contenido Lectura del hilo"/>
          <p:cNvSpPr txBox="1"/>
          <p:nvPr/>
        </p:nvSpPr>
        <p:spPr>
          <a:xfrm>
            <a:off x="3657600" y="16459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50°      →      α = 90° − 50° = 40°</a:t>
            </a:r>
            <a:endParaRPr lang="en-US" sz="3200" dirty="0"/>
          </a:p>
        </p:txBody>
      </p:sp>
      <p:sp>
        <p:nvSpPr>
          <p:cNvPr id="6" name="Fila Datos"/>
          <p:cNvSpPr/>
          <p:nvPr/>
        </p:nvSpPr>
        <p:spPr>
          <a:xfrm>
            <a:off x="548640" y="2697480"/>
            <a:ext cx="11091672" cy="914400"/>
          </a:xfrm>
          <a:prstGeom prst="roundRect">
            <a:avLst>
              <a:gd name="adj" fmla="val 18000"/>
            </a:avLst>
          </a:prstGeom>
          <a:solidFill>
            <a:schemeClr val="bg2"/>
          </a:solidFill>
          <a:ln/>
        </p:spPr>
      </p:sp>
      <p:sp>
        <p:nvSpPr>
          <p:cNvPr id="7" name="Etiqueta Datos"/>
          <p:cNvSpPr txBox="1"/>
          <p:nvPr/>
        </p:nvSpPr>
        <p:spPr>
          <a:xfrm>
            <a:off x="822960" y="27889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Datos</a:t>
            </a:r>
            <a:endParaRPr lang="en-US" sz="2400" dirty="0"/>
          </a:p>
        </p:txBody>
      </p:sp>
      <p:sp>
        <p:nvSpPr>
          <p:cNvPr id="8" name="Contenido Datos"/>
          <p:cNvSpPr txBox="1"/>
          <p:nvPr/>
        </p:nvSpPr>
        <p:spPr>
          <a:xfrm>
            <a:off x="3657600" y="27889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 = 20 m      h</a:t>
            </a:r>
            <a:pPr algn="l" indent="0" marL="0">
              <a:buNone/>
            </a:pPr>
            <a:r>
              <a:rPr lang="en-US" sz="2800" b="1" baseline="-40000" dirty="0">
                <a:solidFill>
                  <a:schemeClr val="tx1"/>
                </a:solidFill>
              </a:rPr>
              <a:t>o</a:t>
            </a:r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 = 1,6 m      tan 40° ≈ 0,839</a:t>
            </a:r>
            <a:endParaRPr lang="en-US" sz="2800" dirty="0"/>
          </a:p>
        </p:txBody>
      </p:sp>
      <p:sp>
        <p:nvSpPr>
          <p:cNvPr id="9" name="Fila Parte sobre los ojos"/>
          <p:cNvSpPr/>
          <p:nvPr/>
        </p:nvSpPr>
        <p:spPr>
          <a:xfrm>
            <a:off x="548640" y="3840480"/>
            <a:ext cx="11091672" cy="914400"/>
          </a:xfrm>
          <a:prstGeom prst="roundRect">
            <a:avLst>
              <a:gd name="adj" fmla="val 18000"/>
            </a:avLst>
          </a:prstGeom>
          <a:solidFill>
            <a:schemeClr val="accent4"/>
          </a:solidFill>
          <a:ln/>
        </p:spPr>
      </p:sp>
      <p:sp>
        <p:nvSpPr>
          <p:cNvPr id="10" name="Etiqueta Parte sobre los ojos"/>
          <p:cNvSpPr txBox="1"/>
          <p:nvPr/>
        </p:nvSpPr>
        <p:spPr>
          <a:xfrm>
            <a:off x="822960" y="39319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Parte sobre los ojos</a:t>
            </a:r>
            <a:endParaRPr lang="en-US" sz="2400" dirty="0"/>
          </a:p>
        </p:txBody>
      </p:sp>
      <p:sp>
        <p:nvSpPr>
          <p:cNvPr id="11" name="Contenido Parte sobre los ojos"/>
          <p:cNvSpPr txBox="1"/>
          <p:nvPr/>
        </p:nvSpPr>
        <p:spPr>
          <a:xfrm>
            <a:off x="3657600" y="39319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 = 20 · 0,839 ≈ 16,8 m</a:t>
            </a:r>
            <a:endParaRPr lang="en-US" sz="3200" dirty="0"/>
          </a:p>
        </p:txBody>
      </p:sp>
      <p:sp>
        <p:nvSpPr>
          <p:cNvPr id="12" name="Fila Altura total"/>
          <p:cNvSpPr/>
          <p:nvPr/>
        </p:nvSpPr>
        <p:spPr>
          <a:xfrm>
            <a:off x="548640" y="4983480"/>
            <a:ext cx="11091672" cy="914400"/>
          </a:xfrm>
          <a:prstGeom prst="roundRect">
            <a:avLst>
              <a:gd name="adj" fmla="val 18000"/>
            </a:avLst>
          </a:prstGeom>
          <a:solidFill>
            <a:schemeClr val="accent5"/>
          </a:solidFill>
          <a:ln/>
        </p:spPr>
      </p:sp>
      <p:sp>
        <p:nvSpPr>
          <p:cNvPr id="13" name="Etiqueta Altura total"/>
          <p:cNvSpPr txBox="1"/>
          <p:nvPr/>
        </p:nvSpPr>
        <p:spPr>
          <a:xfrm>
            <a:off x="822960" y="50749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Altura total</a:t>
            </a:r>
            <a:endParaRPr lang="en-US" sz="2400" dirty="0"/>
          </a:p>
        </p:txBody>
      </p:sp>
      <p:sp>
        <p:nvSpPr>
          <p:cNvPr id="14" name="Contenido Altura total"/>
          <p:cNvSpPr txBox="1"/>
          <p:nvPr/>
        </p:nvSpPr>
        <p:spPr>
          <a:xfrm>
            <a:off x="3657600" y="50749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H = 16,8 + 1,6 = 18,4 m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080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Ejemplo ficticio para practicar el cálculo.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Parte C: protocolo de medición</a:t>
            </a:r>
            <a:endParaRPr lang="en-US" sz="4000" dirty="0"/>
          </a:p>
        </p:txBody>
      </p:sp>
      <p:sp>
        <p:nvSpPr>
          <p:cNvPr id="3" name="Fila Estructuras"/>
          <p:cNvSpPr/>
          <p:nvPr/>
        </p:nvSpPr>
        <p:spPr>
          <a:xfrm>
            <a:off x="548640" y="1554480"/>
            <a:ext cx="11091672" cy="868680"/>
          </a:xfrm>
          <a:prstGeom prst="roundRect">
            <a:avLst>
              <a:gd name="adj" fmla="val 18947"/>
            </a:avLst>
          </a:prstGeom>
          <a:solidFill>
            <a:schemeClr val="accent4"/>
          </a:solidFill>
          <a:ln/>
        </p:spPr>
      </p:sp>
      <p:sp>
        <p:nvSpPr>
          <p:cNvPr id="4" name="Etiqueta Estructuras"/>
          <p:cNvSpPr txBox="1"/>
          <p:nvPr/>
        </p:nvSpPr>
        <p:spPr>
          <a:xfrm>
            <a:off x="822960" y="16459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Estructuras</a:t>
            </a:r>
            <a:endParaRPr lang="en-US" sz="2400" dirty="0"/>
          </a:p>
        </p:txBody>
      </p:sp>
      <p:sp>
        <p:nvSpPr>
          <p:cNvPr id="5" name="Contenido Estructuras"/>
          <p:cNvSpPr txBox="1"/>
          <p:nvPr/>
        </p:nvSpPr>
        <p:spPr>
          <a:xfrm>
            <a:off x="3657600" y="16459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edificio, letrero y árbol</a:t>
            </a:r>
            <a:endParaRPr lang="en-US" sz="3000" dirty="0"/>
          </a:p>
        </p:txBody>
      </p:sp>
      <p:sp>
        <p:nvSpPr>
          <p:cNvPr id="6" name="Fila Mediciones"/>
          <p:cNvSpPr/>
          <p:nvPr/>
        </p:nvSpPr>
        <p:spPr>
          <a:xfrm>
            <a:off x="548640" y="2560320"/>
            <a:ext cx="11091672" cy="868680"/>
          </a:xfrm>
          <a:prstGeom prst="roundRect">
            <a:avLst>
              <a:gd name="adj" fmla="val 18947"/>
            </a:avLst>
          </a:prstGeom>
          <a:solidFill>
            <a:schemeClr val="bg2"/>
          </a:solidFill>
          <a:ln/>
        </p:spPr>
      </p:sp>
      <p:sp>
        <p:nvSpPr>
          <p:cNvPr id="7" name="Etiqueta Mediciones"/>
          <p:cNvSpPr txBox="1"/>
          <p:nvPr/>
        </p:nvSpPr>
        <p:spPr>
          <a:xfrm>
            <a:off x="822960" y="26517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Mediciones</a:t>
            </a:r>
            <a:endParaRPr lang="en-US" sz="2400" dirty="0"/>
          </a:p>
        </p:txBody>
      </p:sp>
      <p:sp>
        <p:nvSpPr>
          <p:cNvPr id="8" name="Contenido Mediciones"/>
          <p:cNvSpPr txBox="1"/>
          <p:nvPr/>
        </p:nvSpPr>
        <p:spPr>
          <a:xfrm>
            <a:off x="3657600" y="26517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3 por estructura → 9 en total</a:t>
            </a:r>
            <a:endParaRPr lang="en-US" sz="3000" dirty="0"/>
          </a:p>
        </p:txBody>
      </p:sp>
      <p:sp>
        <p:nvSpPr>
          <p:cNvPr id="9" name="Fila Distancia d"/>
          <p:cNvSpPr/>
          <p:nvPr/>
        </p:nvSpPr>
        <p:spPr>
          <a:xfrm>
            <a:off x="548640" y="3566160"/>
            <a:ext cx="11091672" cy="868680"/>
          </a:xfrm>
          <a:prstGeom prst="roundRect">
            <a:avLst>
              <a:gd name="adj" fmla="val 18947"/>
            </a:avLst>
          </a:prstGeom>
          <a:solidFill>
            <a:schemeClr val="accent5"/>
          </a:solidFill>
          <a:ln/>
        </p:spPr>
      </p:sp>
      <p:sp>
        <p:nvSpPr>
          <p:cNvPr id="10" name="Etiqueta Distancia d"/>
          <p:cNvSpPr txBox="1"/>
          <p:nvPr/>
        </p:nvSpPr>
        <p:spPr>
          <a:xfrm>
            <a:off x="822960" y="36576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Distancia d</a:t>
            </a:r>
            <a:endParaRPr lang="en-US" sz="2400" dirty="0"/>
          </a:p>
        </p:txBody>
      </p:sp>
      <p:sp>
        <p:nvSpPr>
          <p:cNvPr id="11" name="Contenido Distancia d"/>
          <p:cNvSpPr txBox="1"/>
          <p:nvPr/>
        </p:nvSpPr>
        <p:spPr>
          <a:xfrm>
            <a:off x="3657600" y="365760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varíala: p. ej. 15 m, 20 m y 25 m</a:t>
            </a:r>
            <a:endParaRPr lang="en-US" sz="3000" dirty="0"/>
          </a:p>
        </p:txBody>
      </p:sp>
      <p:sp>
        <p:nvSpPr>
          <p:cNvPr id="12" name="Fila Ángulo ideal"/>
          <p:cNvSpPr/>
          <p:nvPr/>
        </p:nvSpPr>
        <p:spPr>
          <a:xfrm>
            <a:off x="548640" y="4572000"/>
            <a:ext cx="11091672" cy="868680"/>
          </a:xfrm>
          <a:prstGeom prst="roundRect">
            <a:avLst>
              <a:gd name="adj" fmla="val 18947"/>
            </a:avLst>
          </a:prstGeom>
          <a:solidFill>
            <a:schemeClr val="accent4"/>
          </a:solidFill>
          <a:ln/>
        </p:spPr>
      </p:sp>
      <p:sp>
        <p:nvSpPr>
          <p:cNvPr id="13" name="Etiqueta Ángulo ideal"/>
          <p:cNvSpPr txBox="1"/>
          <p:nvPr/>
        </p:nvSpPr>
        <p:spPr>
          <a:xfrm>
            <a:off x="822960" y="46634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Ángulo ideal</a:t>
            </a:r>
            <a:endParaRPr lang="en-US" sz="2400" dirty="0"/>
          </a:p>
        </p:txBody>
      </p:sp>
      <p:sp>
        <p:nvSpPr>
          <p:cNvPr id="14" name="Contenido Ángulo ideal"/>
          <p:cNvSpPr txBox="1"/>
          <p:nvPr/>
        </p:nvSpPr>
        <p:spPr>
          <a:xfrm>
            <a:off x="3657600" y="46634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que α quede entre 20° y 60°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6235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Base accesible, terreno plano, huincha horizontal y h</a:t>
            </a:r>
            <a:pPr algn="l" indent="0" marL="0">
              <a:buNone/>
            </a:pPr>
            <a:r>
              <a:rPr lang="en-US" sz="2200" baseline="-40000" dirty="0">
                <a:solidFill>
                  <a:schemeClr val="tx1"/>
                </a:solidFill>
              </a:rPr>
              <a:t>o</a:t>
            </a:r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 medida del suelo al ojo.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Los cuatro roles</a:t>
            </a:r>
            <a:endParaRPr lang="en-US" sz="4000" dirty="0"/>
          </a:p>
        </p:txBody>
      </p:sp>
      <p:sp>
        <p:nvSpPr>
          <p:cNvPr id="3" name="Rol Observador"/>
          <p:cNvSpPr/>
          <p:nvPr/>
        </p:nvSpPr>
        <p:spPr>
          <a:xfrm>
            <a:off x="548640" y="1554480"/>
            <a:ext cx="5449824" cy="2148840"/>
          </a:xfrm>
          <a:prstGeom prst="roundRect">
            <a:avLst>
              <a:gd name="adj" fmla="val 7660"/>
            </a:avLst>
          </a:prstGeom>
          <a:solidFill>
            <a:schemeClr val="accent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Observador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146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apunta al punto más alto y mantiene el clinómetro firme</a:t>
            </a:r>
            <a:endParaRPr lang="en-US" sz="2400" dirty="0"/>
          </a:p>
        </p:txBody>
      </p:sp>
      <p:sp>
        <p:nvSpPr>
          <p:cNvPr id="6" name="Rol Medidor de distancia"/>
          <p:cNvSpPr/>
          <p:nvPr/>
        </p:nvSpPr>
        <p:spPr>
          <a:xfrm>
            <a:off x="6190488" y="1554480"/>
            <a:ext cx="5449824" cy="2148840"/>
          </a:xfrm>
          <a:prstGeom prst="roundRect">
            <a:avLst>
              <a:gd name="adj" fmla="val 7660"/>
            </a:avLst>
          </a:prstGeom>
          <a:solidFill>
            <a:schemeClr val="accent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64808" y="17830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Medidor de distancia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6464808" y="25146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mide d con la huincha y la altura de ojos h</a:t>
            </a:r>
            <a:pPr algn="l" indent="0" marL="0">
              <a:buNone/>
            </a:pPr>
            <a:r>
              <a:rPr lang="en-US" sz="2400" baseline="-40000" dirty="0">
                <a:solidFill>
                  <a:schemeClr val="tx1"/>
                </a:solidFill>
              </a:rPr>
              <a:t>o</a:t>
            </a:r>
            <a:endParaRPr lang="en-US" sz="2400" dirty="0"/>
          </a:p>
        </p:txBody>
      </p:sp>
      <p:sp>
        <p:nvSpPr>
          <p:cNvPr id="9" name="Rol Anotador"/>
          <p:cNvSpPr/>
          <p:nvPr/>
        </p:nvSpPr>
        <p:spPr>
          <a:xfrm>
            <a:off x="548640" y="3886200"/>
            <a:ext cx="5449824" cy="2148840"/>
          </a:xfrm>
          <a:prstGeom prst="roundRect">
            <a:avLst>
              <a:gd name="adj" fmla="val 7660"/>
            </a:avLst>
          </a:prstGeom>
          <a:solidFill>
            <a:schemeClr val="accent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41148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Anotador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8463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lee el ángulo en la escala y lo registra en la ficha</a:t>
            </a:r>
            <a:endParaRPr lang="en-US" sz="2400" dirty="0"/>
          </a:p>
        </p:txBody>
      </p:sp>
      <p:sp>
        <p:nvSpPr>
          <p:cNvPr id="12" name="Rol Calculista"/>
          <p:cNvSpPr/>
          <p:nvPr/>
        </p:nvSpPr>
        <p:spPr>
          <a:xfrm>
            <a:off x="6190488" y="3886200"/>
            <a:ext cx="5449824" cy="2148840"/>
          </a:xfrm>
          <a:prstGeom prst="roundRect">
            <a:avLst>
              <a:gd name="adj" fmla="val 7660"/>
            </a:avLst>
          </a:prstGeom>
          <a:solidFill>
            <a:schemeClr val="accent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64808" y="41148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Calculista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464808" y="48463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calcula α, h y H y verifica con la calculadora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Rotación de roles (A, B, C y D)</a:t>
            </a:r>
            <a:endParaRPr lang="en-US" sz="4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651760"/>
                <a:gridCol w="1828800"/>
                <a:gridCol w="2011680"/>
                <a:gridCol w="1828800"/>
                <a:gridCol w="1856232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N.º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Estructura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Observador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Medidor dist.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Anotador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Calculista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Edificio 1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Edificio 2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Edificio 3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Letrero 1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Letrero 2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Letrero 3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Árbol 1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Árbol 2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Árbol 3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Cada integrante participa en las 9 mediciones, cambiando de rol.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Seguridad en terreno</a:t>
            </a:r>
            <a:endParaRPr lang="en-US" sz="4000" dirty="0"/>
          </a:p>
        </p:txBody>
      </p:sp>
      <p:sp>
        <p:nvSpPr>
          <p:cNvPr id="3" name="Seguridad 1"/>
          <p:cNvSpPr/>
          <p:nvPr/>
        </p:nvSpPr>
        <p:spPr>
          <a:xfrm>
            <a:off x="548640" y="1554480"/>
            <a:ext cx="11091672" cy="1005840"/>
          </a:xfrm>
          <a:prstGeom prst="roundRect">
            <a:avLst>
              <a:gd name="adj" fmla="val 16364"/>
            </a:avLst>
          </a:prstGeom>
          <a:solidFill>
            <a:schemeClr val="accent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5544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No midan cerca de calles ni de bordes con riesgo de caída.</a:t>
            </a:r>
            <a:endParaRPr lang="en-US" sz="2800" dirty="0"/>
          </a:p>
        </p:txBody>
      </p:sp>
      <p:sp>
        <p:nvSpPr>
          <p:cNvPr id="5" name="Seguridad 2"/>
          <p:cNvSpPr/>
          <p:nvPr/>
        </p:nvSpPr>
        <p:spPr>
          <a:xfrm>
            <a:off x="548640" y="2743200"/>
            <a:ext cx="11091672" cy="1005840"/>
          </a:xfrm>
          <a:prstGeom prst="roundRect">
            <a:avLst>
              <a:gd name="adj" fmla="val 16364"/>
            </a:avLst>
          </a:prstGeom>
          <a:solidFill>
            <a:schemeClr val="accent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7432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No miren directamente al Sol a través del visor.</a:t>
            </a:r>
            <a:endParaRPr lang="en-US" sz="2800" dirty="0"/>
          </a:p>
        </p:txBody>
      </p:sp>
      <p:sp>
        <p:nvSpPr>
          <p:cNvPr id="7" name="Seguridad 3"/>
          <p:cNvSpPr/>
          <p:nvPr/>
        </p:nvSpPr>
        <p:spPr>
          <a:xfrm>
            <a:off x="548640" y="3931920"/>
            <a:ext cx="11091672" cy="1005840"/>
          </a:xfrm>
          <a:prstGeom prst="roundRect">
            <a:avLst>
              <a:gd name="adj" fmla="val 16364"/>
            </a:avLst>
          </a:prstGeom>
          <a:solidFill>
            <a:schemeClr val="accent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9319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Trabajen siempre a nivel del suelo.</a:t>
            </a:r>
            <a:endParaRPr lang="en-US" sz="2800" dirty="0"/>
          </a:p>
        </p:txBody>
      </p:sp>
      <p:sp>
        <p:nvSpPr>
          <p:cNvPr id="9" name="Seguridad 4"/>
          <p:cNvSpPr/>
          <p:nvPr/>
        </p:nvSpPr>
        <p:spPr>
          <a:xfrm>
            <a:off x="548640" y="5120640"/>
            <a:ext cx="11091672" cy="1005840"/>
          </a:xfrm>
          <a:prstGeom prst="roundRect">
            <a:avLst>
              <a:gd name="adj" fmla="val 16364"/>
            </a:avLst>
          </a:prstGeom>
          <a:solidFill>
            <a:schemeClr val="accent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51206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Pidan autorización para usar los espacios.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Parte D: ficha de ingreso de datos</a:t>
            </a:r>
            <a:endParaRPr lang="en-US" sz="4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554480"/>
                <a:gridCol w="1097280"/>
                <a:gridCol w="1554480"/>
                <a:gridCol w="1097280"/>
                <a:gridCol w="1188720"/>
                <a:gridCol w="1828800"/>
                <a:gridCol w="2039112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N.º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Observador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d (m)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Lectura (°)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α (°)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h</a:t>
                      </a:r>
                      <a:pPr algn="ctr" indent="0" marL="0">
                        <a:buNone/>
                      </a:pPr>
                      <a:r>
                        <a:rPr lang="en-US" sz="1600" b="1" baseline="-40000" dirty="0">
                          <a:solidFill>
                            <a:schemeClr val="bg1"/>
                          </a:solidFill>
                        </a:rPr>
                        <a:t>o</a:t>
                      </a:r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(m)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h = d tan α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H = h + h</a:t>
                      </a:r>
                      <a:pPr algn="ctr" indent="0" marL="0">
                        <a:buNone/>
                      </a:pPr>
                      <a:r>
                        <a:rPr lang="en-US" sz="1600" b="1" baseline="-40000" dirty="0">
                          <a:solidFill>
                            <a:schemeClr val="bg1"/>
                          </a:solidFill>
                        </a:rPr>
                        <a:t>o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45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45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1,6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15,0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16,6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52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38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1,6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15,6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17,2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57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33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1,6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16,2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17,8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4" name="Promedio"/>
          <p:cNvSpPr/>
          <p:nvPr/>
        </p:nvSpPr>
        <p:spPr>
          <a:xfrm>
            <a:off x="548640" y="3931920"/>
            <a:ext cx="5440680" cy="1463040"/>
          </a:xfrm>
          <a:prstGeom prst="roundRect">
            <a:avLst>
              <a:gd name="adj" fmla="val 11250"/>
            </a:avLst>
          </a:prstGeom>
          <a:solidFill>
            <a:schemeClr val="accent4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39319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Promedio: H = (H</a:t>
            </a:r>
            <a:pPr algn="l" indent="0" marL="0">
              <a:buNone/>
            </a:pPr>
            <a:r>
              <a:rPr lang="en-US" sz="2200" b="1" baseline="-40000" dirty="0">
                <a:solidFill>
                  <a:schemeClr val="tx1"/>
                </a:solidFill>
              </a:rPr>
              <a:t>1</a:t>
            </a:r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 + H</a:t>
            </a:r>
            <a:pPr algn="l" indent="0" marL="0">
              <a:buNone/>
            </a:pPr>
            <a:r>
              <a:rPr lang="en-US" sz="2200" b="1" baseline="-40000" dirty="0">
                <a:solidFill>
                  <a:schemeClr val="tx1"/>
                </a:solidFill>
              </a:rPr>
              <a:t>2</a:t>
            </a:r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 + H</a:t>
            </a:r>
            <a:pPr algn="l" indent="0" marL="0">
              <a:buNone/>
            </a:pPr>
            <a:r>
              <a:rPr lang="en-US" sz="2200" b="1" baseline="-40000" dirty="0">
                <a:solidFill>
                  <a:schemeClr val="tx1"/>
                </a:solidFill>
              </a:rPr>
              <a:t>3</a:t>
            </a:r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) / 3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45720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(16,6 + 17,2 + 17,8) / 3 = 17,2 m</a:t>
            </a:r>
            <a:endParaRPr lang="en-US" sz="2200" dirty="0"/>
          </a:p>
        </p:txBody>
      </p:sp>
      <p:sp>
        <p:nvSpPr>
          <p:cNvPr id="7" name="Rango"/>
          <p:cNvSpPr/>
          <p:nvPr/>
        </p:nvSpPr>
        <p:spPr>
          <a:xfrm>
            <a:off x="6199632" y="3931920"/>
            <a:ext cx="5440680" cy="1463040"/>
          </a:xfrm>
          <a:prstGeom prst="roundRect">
            <a:avLst>
              <a:gd name="adj" fmla="val 11250"/>
            </a:avLst>
          </a:prstGeom>
          <a:solidFill>
            <a:schemeClr val="accent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28232" y="39319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Rango: R = H</a:t>
            </a:r>
            <a:pPr algn="l" indent="0" marL="0">
              <a:buNone/>
            </a:pPr>
            <a:r>
              <a:rPr lang="en-US" sz="2200" b="1" baseline="-40000" dirty="0">
                <a:solidFill>
                  <a:schemeClr val="tx1"/>
                </a:solidFill>
              </a:rPr>
              <a:t>máx</a:t>
            </a:r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 − H</a:t>
            </a:r>
            <a:pPr algn="l" indent="0" marL="0">
              <a:buNone/>
            </a:pPr>
            <a:r>
              <a:rPr lang="en-US" sz="2200" b="1" baseline="-40000" dirty="0">
                <a:solidFill>
                  <a:schemeClr val="tx1"/>
                </a:solidFill>
              </a:rPr>
              <a:t>mín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6428232" y="45720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17,8 − 16,6 = 1,2 m   →   R/H · 100 ≈ 7 %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2"/>
                </a:solidFill>
              </a:rPr>
              <a:t>Datos ficticios, solo para mostrar cómo se llena la ficha.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Parte E: registro de participación</a:t>
            </a:r>
            <a:endParaRPr lang="en-US" sz="4000" dirty="0"/>
          </a:p>
        </p:txBody>
      </p:sp>
      <p:sp>
        <p:nvSpPr>
          <p:cNvPr id="3" name="Banner"/>
          <p:cNvSpPr/>
          <p:nvPr/>
        </p:nvSpPr>
        <p:spPr>
          <a:xfrm>
            <a:off x="548640" y="1463040"/>
            <a:ext cx="11091672" cy="1463040"/>
          </a:xfrm>
          <a:prstGeom prst="roundRect">
            <a:avLst>
              <a:gd name="adj" fmla="val 11250"/>
            </a:avLst>
          </a:prstGeom>
          <a:solidFill>
            <a:schemeClr val="accent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10543032" cy="9070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IP = (mediciones/9)·60 + (constr./5)·20 + (informe/5)·20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0125"/>
            <a:ext cx="10543032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2"/>
                </a:solidFill>
              </a:rPr>
              <a:t>Índice de participación en %: 60 % terreno, 20 % construcción, 20 % informe</a:t>
            </a:r>
            <a:endParaRPr lang="en-US" sz="2400" dirty="0"/>
          </a:p>
        </p:txBody>
      </p:sp>
      <p:sp>
        <p:nvSpPr>
          <p:cNvPr id="6" name="Ejemplo IP"/>
          <p:cNvSpPr/>
          <p:nvPr/>
        </p:nvSpPr>
        <p:spPr>
          <a:xfrm>
            <a:off x="548640" y="3200400"/>
            <a:ext cx="5440680" cy="2377440"/>
          </a:xfrm>
          <a:prstGeom prst="roundRect">
            <a:avLst>
              <a:gd name="adj" fmla="val 6923"/>
            </a:avLst>
          </a:prstGeom>
          <a:solidFill>
            <a:schemeClr val="accent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337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EJEMPLO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947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9 mediciones, 4/5 en construcción y 5/5 en informe: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7548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IP = 60 + 16 + 20 = 96 %</a:t>
            </a:r>
            <a:endParaRPr lang="en-US" sz="3000" dirty="0"/>
          </a:p>
        </p:txBody>
      </p:sp>
      <p:sp>
        <p:nvSpPr>
          <p:cNvPr id="10" name="Coevaluación"/>
          <p:cNvSpPr/>
          <p:nvPr/>
        </p:nvSpPr>
        <p:spPr>
          <a:xfrm>
            <a:off x="6199632" y="3200400"/>
            <a:ext cx="5440680" cy="2377440"/>
          </a:xfrm>
          <a:prstGeom prst="roundRect">
            <a:avLst>
              <a:gd name="adj" fmla="val 6923"/>
            </a:avLst>
          </a:prstGeom>
          <a:solidFill>
            <a:schemeClr val="accent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73952" y="3337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COEVALUACIÓN (1 a 5)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3794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•  Responsabilidad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473952" y="4251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•  Trabajo en equipo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473952" y="47091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•  Puntualidad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473952" y="51663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•  Aporte al informe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El informe final del grupo</a:t>
            </a:r>
            <a:endParaRPr lang="en-US" sz="4000" dirty="0"/>
          </a:p>
        </p:txBody>
      </p:sp>
      <p:sp>
        <p:nvSpPr>
          <p:cNvPr id="3" name="Seccion 1"/>
          <p:cNvSpPr/>
          <p:nvPr/>
        </p:nvSpPr>
        <p:spPr>
          <a:xfrm>
            <a:off x="548640" y="1554480"/>
            <a:ext cx="5449824" cy="1371600"/>
          </a:xfrm>
          <a:prstGeom prst="roundRect">
            <a:avLst>
              <a:gd name="adj" fmla="val 12000"/>
            </a:avLst>
          </a:prstGeom>
          <a:solidFill>
            <a:schemeClr val="accent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548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7373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Introducción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22860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qué es un clinómetro y qué problema resuelve</a:t>
            </a:r>
            <a:endParaRPr lang="en-US" sz="2000" dirty="0"/>
          </a:p>
        </p:txBody>
      </p:sp>
      <p:sp>
        <p:nvSpPr>
          <p:cNvPr id="7" name="Seccion 2"/>
          <p:cNvSpPr/>
          <p:nvPr/>
        </p:nvSpPr>
        <p:spPr>
          <a:xfrm>
            <a:off x="6190488" y="1554480"/>
            <a:ext cx="5449824" cy="1371600"/>
          </a:xfrm>
          <a:prstGeom prst="roundRect">
            <a:avLst>
              <a:gd name="adj" fmla="val 12000"/>
            </a:avLst>
          </a:prstGeom>
          <a:solidFill>
            <a:schemeClr val="accent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19088" y="1554480"/>
            <a:ext cx="548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7059168" y="17373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Procedimiento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7059168" y="22860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construcción, calibración y mediciones</a:t>
            </a:r>
            <a:endParaRPr lang="en-US" sz="2000" dirty="0"/>
          </a:p>
        </p:txBody>
      </p:sp>
      <p:sp>
        <p:nvSpPr>
          <p:cNvPr id="11" name="Seccion 3"/>
          <p:cNvSpPr/>
          <p:nvPr/>
        </p:nvSpPr>
        <p:spPr>
          <a:xfrm>
            <a:off x="548640" y="3108960"/>
            <a:ext cx="5449824" cy="1371600"/>
          </a:xfrm>
          <a:prstGeom prst="roundRect">
            <a:avLst>
              <a:gd name="adj" fmla="val 12000"/>
            </a:avLst>
          </a:prstGeom>
          <a:solidFill>
            <a:schemeClr val="accent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108960"/>
            <a:ext cx="548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2918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Resultados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8404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tabla resumen, croquis o fotografías</a:t>
            </a:r>
            <a:endParaRPr lang="en-US" sz="2000" dirty="0"/>
          </a:p>
        </p:txBody>
      </p:sp>
      <p:sp>
        <p:nvSpPr>
          <p:cNvPr id="15" name="Seccion 4"/>
          <p:cNvSpPr/>
          <p:nvPr/>
        </p:nvSpPr>
        <p:spPr>
          <a:xfrm>
            <a:off x="6190488" y="3108960"/>
            <a:ext cx="5449824" cy="1371600"/>
          </a:xfrm>
          <a:prstGeom prst="roundRect">
            <a:avLst>
              <a:gd name="adj" fmla="val 12000"/>
            </a:avLst>
          </a:prstGeom>
          <a:solidFill>
            <a:schemeClr val="accent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19088" y="3108960"/>
            <a:ext cx="548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4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7059168" y="32918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Análisis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7059168" y="38404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dispersión, fuentes de error, efecto de d</a:t>
            </a:r>
            <a:endParaRPr lang="en-US" sz="2000" dirty="0"/>
          </a:p>
        </p:txBody>
      </p:sp>
      <p:sp>
        <p:nvSpPr>
          <p:cNvPr id="19" name="Seccion 5"/>
          <p:cNvSpPr/>
          <p:nvPr/>
        </p:nvSpPr>
        <p:spPr>
          <a:xfrm>
            <a:off x="548640" y="4663440"/>
            <a:ext cx="5449824" cy="1371600"/>
          </a:xfrm>
          <a:prstGeom prst="roundRect">
            <a:avLst>
              <a:gd name="adj" fmla="val 12000"/>
            </a:avLst>
          </a:prstGeom>
          <a:solidFill>
            <a:schemeClr val="accent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4663440"/>
            <a:ext cx="548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5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48463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Conclusiones</a:t>
            </a:r>
            <a:endParaRPr lang="en-US" sz="2800" dirty="0"/>
          </a:p>
        </p:txBody>
      </p:sp>
      <p:sp>
        <p:nvSpPr>
          <p:cNvPr id="22" name="Seccion 6"/>
          <p:cNvSpPr/>
          <p:nvPr/>
        </p:nvSpPr>
        <p:spPr>
          <a:xfrm>
            <a:off x="6190488" y="4663440"/>
            <a:ext cx="5449824" cy="1371600"/>
          </a:xfrm>
          <a:prstGeom prst="roundRect">
            <a:avLst>
              <a:gd name="adj" fmla="val 12000"/>
            </a:avLst>
          </a:prstGeom>
          <a:solidFill>
            <a:schemeClr val="accent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19088" y="4663440"/>
            <a:ext cx="548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6</a:t>
            </a:r>
            <a:endParaRPr lang="en-US" sz="4000" dirty="0"/>
          </a:p>
        </p:txBody>
      </p:sp>
      <p:sp>
        <p:nvSpPr>
          <p:cNvPr id="24" name="Text 22"/>
          <p:cNvSpPr txBox="1"/>
          <p:nvPr/>
        </p:nvSpPr>
        <p:spPr>
          <a:xfrm>
            <a:off x="7059168" y="48463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Anexo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7059168" y="53949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croquis o fotografías del trabajo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Análisis: ¿qué pasa con α al aumentar d?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Misma estructura: h = 16 m sobre los ojos. Como tan α = h / d: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1109167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572000"/>
                <a:gridCol w="3319272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d (m)</a:t>
                      </a:r>
                      <a:endParaRPr lang="en-US" sz="2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tan α = 16 / d</a:t>
                      </a:r>
                      <a:endParaRPr lang="en-US" sz="2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α</a:t>
                      </a:r>
                      <a:endParaRPr lang="en-US" sz="2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1,6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≈ 58°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0,8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≈ 39°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0,4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≈ 22°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5" name="Conclusión"/>
          <p:cNvSpPr/>
          <p:nvPr/>
        </p:nvSpPr>
        <p:spPr>
          <a:xfrm>
            <a:off x="548640" y="5212080"/>
            <a:ext cx="11091672" cy="914400"/>
          </a:xfrm>
          <a:prstGeom prst="roundRect">
            <a:avLst>
              <a:gd name="adj" fmla="val 18000"/>
            </a:avLst>
          </a:prstGeom>
          <a:solidFill>
            <a:schemeClr val="accent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521208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Al aumentar d, α disminuye. Muy lejos, el ángulo es pequeño y se lee peor.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Análisis: errores y dispersión</a:t>
            </a:r>
            <a:endParaRPr lang="en-US" sz="4000" dirty="0"/>
          </a:p>
        </p:txBody>
      </p:sp>
      <p:sp>
        <p:nvSpPr>
          <p:cNvPr id="3" name="Panel AL MENOS TRES FUENTES DE ERROR"/>
          <p:cNvSpPr/>
          <p:nvPr/>
        </p:nvSpPr>
        <p:spPr>
          <a:xfrm>
            <a:off x="548640" y="1554480"/>
            <a:ext cx="5440680" cy="4480560"/>
          </a:xfrm>
          <a:prstGeom prst="roundRect">
            <a:avLst>
              <a:gd name="adj" fmla="val 3673"/>
            </a:avLst>
          </a:prstGeom>
          <a:solidFill>
            <a:schemeClr val="accent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AL MENOS TRES FUENTES DE ERROR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Instrumento (hilo, escala)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4436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Observador (pulso, puntería)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11296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Terreno (pendiente)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078224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Medición de d y de h</a:t>
            </a:r>
            <a:pPr algn="l" indent="0" marL="0">
              <a:buNone/>
            </a:pPr>
            <a:r>
              <a:rPr lang="en-US" sz="2600" baseline="-40000" dirty="0">
                <a:solidFill>
                  <a:schemeClr val="tx1"/>
                </a:solidFill>
              </a:rPr>
              <a:t>o</a:t>
            </a:r>
            <a:endParaRPr lang="en-US" sz="2600" dirty="0"/>
          </a:p>
        </p:txBody>
      </p:sp>
      <p:sp>
        <p:nvSpPr>
          <p:cNvPr id="9" name="Panel SI CONOCEN LA ALTURA REAL"/>
          <p:cNvSpPr/>
          <p:nvPr/>
        </p:nvSpPr>
        <p:spPr>
          <a:xfrm>
            <a:off x="6199632" y="1554480"/>
            <a:ext cx="5440680" cy="4480560"/>
          </a:xfrm>
          <a:prstGeom prst="roundRect">
            <a:avLst>
              <a:gd name="adj" fmla="val 3673"/>
            </a:avLst>
          </a:prstGeom>
          <a:solidFill>
            <a:schemeClr val="accent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73952" y="17830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SI CONOCEN LA ALTURA REAL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473952" y="237744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Error absoluto: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294436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|H promedio − H real|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473952" y="3511296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Error relativo: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473952" y="4078224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|H prom. − H real| / H real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Pauta de evaluación (100 puntos)</a:t>
            </a:r>
            <a:endParaRPr lang="en-US" sz="4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8348472"/>
                <a:gridCol w="27432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Criterio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Puntaje máx.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Construcción y calibración del clinómetro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2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Registro completo de datos (3 × 3, con unidades)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2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Cálculos correctos (α, h, H y promedios)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2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Análisis de dispersión y fuentes de error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2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Participación equitativa y registro de roles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2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Informe final (orden, redacción y conclusiones)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2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97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Total: 100 puntos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1645920"/>
            <a:ext cx="10698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Un ángulo y una distancia bastan para medir lo que no podemos alcanzar</a:t>
            </a:r>
            <a:endParaRPr lang="en-US" sz="4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44805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accent3"/>
                </a:solidFill>
              </a:rPr>
              <a:t>Antes de salir: clinómetro calibrado, ficha lista y roles asignados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ller clinometro">
  <a:themeElements>
    <a:clrScheme name="Taller clinometro">
      <a:dk1>
        <a:srgbClr val="12263F"/>
      </a:dk1>
      <a:lt1>
        <a:srgbClr val="FFFFFF"/>
      </a:lt1>
      <a:dk2>
        <a:srgbClr val="17598F"/>
      </a:dk2>
      <a:lt2>
        <a:srgbClr val="EEF3F8"/>
      </a:lt2>
      <a:accent1>
        <a:srgbClr val="1F6FB2"/>
      </a:accent1>
      <a:accent2>
        <a:srgbClr val="A84A00"/>
      </a:accent2>
      <a:accent3>
        <a:srgbClr val="FFA94D"/>
      </a:accent3>
      <a:accent4>
        <a:srgbClr val="DCE9F6"/>
      </a:accent4>
      <a:accent5>
        <a:srgbClr val="FBE7D2"/>
      </a:accent5>
      <a:accent6>
        <a:srgbClr val="55657A"/>
      </a:accent6>
      <a:hlink>
        <a:srgbClr val="1F6FB2"/>
      </a:hlink>
      <a:folHlink>
        <a:srgbClr val="55657A"/>
      </a:folHlink>
    </a:clrScheme>
    <a:fontScheme name="Taller clinometr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Taller: construcción y aplicación de un clinómetro</dc:title>
  <dc:subject>PptxGenJS Presentation</dc:subject>
  <dc:creator>Cálculo 1</dc:creator>
  <cp:lastModifiedBy>Cálculo 1</cp:lastModifiedBy>
  <cp:revision>1</cp:revision>
  <dcterms:created xsi:type="dcterms:W3CDTF">2026-10-03T12:53:17Z</dcterms:created>
  <dcterms:modified xsi:type="dcterms:W3CDTF">2026-10-03T12:53:17Z</dcterms:modified>
</cp:coreProperties>
</file>